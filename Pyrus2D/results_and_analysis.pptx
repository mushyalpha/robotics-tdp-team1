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</a:rPr>
              <a:t>Results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Behavioural Parameter Sensitivity | ENG5326 Robotics M | Team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291840" cy="1005840"/>
          </a:xfrm>
          <a:prstGeom prst="roundRect">
            <a:avLst>
              <a:gd name="adj" fmla="val 30000"/>
            </a:avLst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D1B2A"/>
                </a:solidFill>
              </a:rPr>
              <a:t>LEVEL 1
Parameter Sweep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280160"/>
            <a:ext cx="3291840" cy="1005840"/>
          </a:xfrm>
          <a:prstGeom prst="roundRect">
            <a:avLst>
              <a:gd name="adj" fmla="val 30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D1B2A"/>
                </a:solidFill>
              </a:rPr>
              <a:t>OPTIMAL VALUES
Identified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280160"/>
            <a:ext cx="3291840" cy="1005840"/>
          </a:xfrm>
          <a:prstGeom prst="roundRect">
            <a:avLst>
              <a:gd name="adj" fmla="val 30000"/>
            </a:avLst>
          </a:prstGeom>
          <a:solidFill>
            <a:srgbClr val="00D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D1B2A"/>
                </a:solidFill>
              </a:rPr>
              <a:t>LEVEL 2
HTSM Tactic Profiles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00C2FF"/>
                </a:solidFill>
              </a:rPr>
              <a:t>4v4 Robots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60604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00C2FF"/>
                </a:solidFill>
              </a:rPr>
              <a:t>9×6 m Pitch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60604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00C2FF"/>
                </a:solidFill>
              </a:rPr>
              <a:t>12 cm/s Walk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60604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00C2FF"/>
                </a:solidFill>
              </a:rPr>
              <a:t>20 min 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60604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00C2FF"/>
                </a:solidFill>
              </a:rPr>
              <a:t>5 Trials/Level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Parameters Swept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03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shoot_distance_max   (1.0 – 2.8 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873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shoot_over_pass_bias  (0.1 – 0.9)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7141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chase_radius          (1.3 – 3.5 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46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Metrics Recorded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033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  Win Rate   •  Goal Difference   •  Shots on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8736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  Total Shots  •  Possession %  •  Territory Gain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7141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  Centroid X  (team average field position)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92040"/>
            <a:ext cx="11247120" cy="804672"/>
          </a:xfrm>
          <a:prstGeom prst="rect">
            <a:avLst/>
          </a:prstGeom>
          <a:solidFill>
            <a:srgbClr val="1A1A0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956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</a:rPr>
              <a:t>⚡  Critical fix: Added dribble mechanic → ball went from never reaching opponent half to scoring. Passes ↓ 14,400 → 239 | Shots ↑ 0 → 76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</a:rPr>
              <a:t>Shoot Distance 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How far a robot attempts a shot from goal   |   Sweep: 1.0 – 2.8 m</a:t>
            </a:r>
          </a:p>
        </p:txBody>
      </p:sp>
      <p:pic>
        <p:nvPicPr>
          <p:cNvPr id="5" name="Picture 4" descr="heatmap_win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577840" cy="3291840"/>
          </a:xfrm>
          <a:prstGeom prst="rect">
            <a:avLst/>
          </a:prstGeom>
        </p:spPr>
      </p:pic>
      <p:pic>
        <p:nvPicPr>
          <p:cNvPr id="6" name="Picture 5" descr="heatmap_shots_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57784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Win Rate by Parameter &amp;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Shots on Target by Parameter &amp; Level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663440"/>
          <a:ext cx="6858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645920"/>
                <a:gridCol w="1645920"/>
                <a:gridCol w="164592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Distance (m)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Win Rate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Goal Diff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Shots on Target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1.0 m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+1.4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115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1.4 m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40%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+0.4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151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1.8 m (base)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40%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+0.6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203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2.2 m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60%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+0.4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296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2.8 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−0.8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151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0" y="484632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D88"/>
                </a:solidFill>
              </a:rPr>
              <a:t>★  Optimal: 1.0 m — 80% win rate  |  Short-range precision beats long-range volume at 12 cm/s kick 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577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444"/>
                </a:solidFill>
              </a:rPr>
              <a:t>⚠  2.8 m loses every match — robot wastes possession on low-probability shots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</a:rPr>
              <a:t>Shoot-Over-Pass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Probability of shooting vs. passing when in range   |   Sweep: 0.1 – 0.9</a:t>
            </a:r>
          </a:p>
        </p:txBody>
      </p:sp>
      <p:pic>
        <p:nvPicPr>
          <p:cNvPr id="5" name="Picture 4" descr="heatmap_poss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577840" cy="3291840"/>
          </a:xfrm>
          <a:prstGeom prst="rect">
            <a:avLst/>
          </a:prstGeom>
        </p:spPr>
      </p:pic>
      <p:pic>
        <p:nvPicPr>
          <p:cNvPr id="6" name="Picture 5" descr="heatmap_territory_g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57784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Possession % by Parameter &amp;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Territory Gain by Parameter &amp; Level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663440"/>
          <a:ext cx="777240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399032"/>
                <a:gridCol w="1399032"/>
                <a:gridCol w="1709928"/>
                <a:gridCol w="1709928"/>
              </a:tblGrid>
              <a:tr h="31241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Bias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Win Rate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Goal Diff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Possession %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Territory Gain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40%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+0.2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50.5%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+3.4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0.3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−1.0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43.5%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−22.4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0.5 (base)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−0.2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41.5%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−19.4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0.7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+0.2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43.5%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−20.0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</a:tr>
              <a:tr h="3124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0.9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60%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+0.8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56.8%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+19.5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0" y="484632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D88"/>
                </a:solidFill>
              </a:rPr>
              <a:t>★  Optimal: 0.9 — 60% win rate  |  "Lukewarm" middle (0.3–0.7) loses or draws every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5778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444"/>
                </a:solidFill>
              </a:rPr>
              <a:t>⚠  0.5 BASELINE: 0% win rate — decisive robots always beat hesitant 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</a:rPr>
              <a:t>Chase Radius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Max distance at which a robot actively pursues the ball   |   Sweep: 1.3 – 3.5 m</a:t>
            </a:r>
          </a:p>
        </p:txBody>
      </p:sp>
      <p:pic>
        <p:nvPicPr>
          <p:cNvPr id="5" name="Picture 4" descr="heatmap_goal_dif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577840" cy="3291840"/>
          </a:xfrm>
          <a:prstGeom prst="rect">
            <a:avLst/>
          </a:prstGeom>
        </p:spPr>
      </p:pic>
      <p:pic>
        <p:nvPicPr>
          <p:cNvPr id="6" name="Picture 5" descr="heatmap_centroid_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57784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Goal Difference by Parameter &amp;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Team Centroid X by Parameter &amp; Level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663440"/>
          <a:ext cx="777240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9928"/>
                <a:gridCol w="1399032"/>
                <a:gridCol w="1399032"/>
                <a:gridCol w="1554480"/>
                <a:gridCol w="1709928"/>
              </a:tblGrid>
              <a:tr h="31241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Radius (m)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Win Rate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Goal Diff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Possession %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Territory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1.3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−0.2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36.2%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−38.1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2.0 (base)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−0.6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45.1%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−17.4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2.5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40%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56.3%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+10.3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3.0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40%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60.0%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+31.2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</a:tr>
              <a:tr h="3124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3.5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60%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+0.8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50.6%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−2.2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0" y="484632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D88"/>
                </a:solidFill>
              </a:rPr>
              <a:t>★  Optimal: 3.5 m — 60% win rate  |  At 12 cm/s walk speed, first to the ball wins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5778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444"/>
                </a:solidFill>
              </a:rPr>
              <a:t>⚠  1.3 m: loses 38% of territory — under-pressing is catastrophic at slow speeds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</a:rPr>
              <a:t>Synthesis: Optimal Parameters → HTSM Tactic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Level 1 findings directly configure Level 2 tactic engine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43000"/>
          <a:ext cx="1161287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4833"/>
                <a:gridCol w="1393545"/>
                <a:gridCol w="1393545"/>
                <a:gridCol w="1741932"/>
                <a:gridCol w="4529023"/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Optimal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Win Rate Gain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Key Insight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shoot_distance_max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1.8 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1.0 m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+40 pp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Short-range accuracy dominates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shoot_over_pass_bias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0.5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0.9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+60 pp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Decisive &gt; hesitant in front of goal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chase_radius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2.0 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3.5 m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+40 pp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First to ball wins at 12 cm/s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3017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Optimal Values in HTSM Tactic Profiles (α-mapped)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3474720"/>
          <a:ext cx="6858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165860"/>
                <a:gridCol w="1165860"/>
                <a:gridCol w="1028700"/>
                <a:gridCol w="157734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Tactic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α range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shoot_dist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bias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chase_r</a:t>
                      </a:r>
                    </a:p>
                  </a:txBody>
                  <a:tcPr>
                    <a:solidFill>
                      <a:srgbClr val="00C2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Park the Bus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0.00–0.15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1.0 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0.15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1.3 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Possession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0.35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1.0 m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0.30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2.0 m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Balanced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0.50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1.0 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0.50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2.5 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Counter Attack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0.70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1.0 m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0.80</a:t>
                      </a:r>
                    </a:p>
                  </a:txBody>
                  <a:tcPr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3.5 m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All Out Attack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0.95–1.00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1.0 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0.9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D88"/>
                          </a:solidFill>
                        </a:rPr>
                        <a:t>3.5 m</a:t>
                      </a:r>
                    </a:p>
                  </a:txBody>
                  <a:tcPr>
                    <a:solidFill>
                      <a:srgbClr val="005533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06640" y="3017520"/>
            <a:ext cx="4572000" cy="2880360"/>
          </a:xfrm>
          <a:prstGeom prst="roundRect">
            <a:avLst>
              <a:gd name="adj" fmla="val 15000"/>
            </a:avLst>
          </a:prstGeom>
          <a:solidFill>
            <a:srgbClr val="141428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30632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Limitations &amp;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49300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</a:rPr>
              <a:t>• 5 trials/level — wide confidence intervals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81304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</a:rPr>
              <a:t>• 30-trial sweep currently running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133087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</a:rPr>
              <a:t>• 4 parameters not yet swept (kick_power,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453127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</a:rPr>
              <a:t>  position_x_offset, dash_power_mult,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477316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</a:rPr>
              <a:t>  min_passes_before_shot)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509320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</a:rPr>
              <a:t>• Parameter interactions not captured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541324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</a:rPr>
              <a:t>• Falls disabled — may shift optimal chase_r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